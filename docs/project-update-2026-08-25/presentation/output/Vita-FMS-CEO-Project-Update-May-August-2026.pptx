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6d6ecd68ee4ef6" /><Relationship Type="http://schemas.openxmlformats.org/officeDocument/2006/relationships/extended-properties" Target="/docProps/app.xml" Id="R0ff2cc2c0c0d44a3" /><Relationship Type="http://schemas.openxmlformats.org/officeDocument/2006/relationships/officeDocument" Target="/ppt/presentation.xml" Id="Rd9a0927c5c2c4f5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4f4177d71dc4ea1"/>
  </p:sldMasterIdLst>
  <p:notesMasterIdLst>
    <p:notesMasterId xmlns:r="http://schemas.openxmlformats.org/officeDocument/2006/relationships" r:id="R7fb27fa6f67e4dc5"/>
  </p:notesMasterIdLst>
  <p:sldIdLst>
    <p:sldId xmlns:r="http://schemas.openxmlformats.org/officeDocument/2006/relationships" id="256" r:id="Rd408faac40eb4fd5"/>
    <p:sldId xmlns:r="http://schemas.openxmlformats.org/officeDocument/2006/relationships" id="257" r:id="Ra4cfb42c5d6f41f8"/>
    <p:sldId xmlns:r="http://schemas.openxmlformats.org/officeDocument/2006/relationships" id="258" r:id="R7c9ed09865054d18"/>
    <p:sldId xmlns:r="http://schemas.openxmlformats.org/officeDocument/2006/relationships" id="259" r:id="Re77a22afda234991"/>
    <p:sldId xmlns:r="http://schemas.openxmlformats.org/officeDocument/2006/relationships" id="260" r:id="Rd09aa40c668240bc"/>
    <p:sldId xmlns:r="http://schemas.openxmlformats.org/officeDocument/2006/relationships" id="261" r:id="R1a6e25a8a6ca4976"/>
    <p:sldId xmlns:r="http://schemas.openxmlformats.org/officeDocument/2006/relationships" id="262" r:id="Rdafbd07002b74007"/>
    <p:sldId xmlns:r="http://schemas.openxmlformats.org/officeDocument/2006/relationships" id="263" r:id="Rb321af8207994240"/>
    <p:sldId xmlns:r="http://schemas.openxmlformats.org/officeDocument/2006/relationships" id="264" r:id="R42272b0220f54b7b"/>
    <p:sldId xmlns:r="http://schemas.openxmlformats.org/officeDocument/2006/relationships" id="265" r:id="Rfb0410a0e4404695"/>
    <p:sldId xmlns:r="http://schemas.openxmlformats.org/officeDocument/2006/relationships" id="266" r:id="Rde636fea348944f8"/>
    <p:sldId xmlns:r="http://schemas.openxmlformats.org/officeDocument/2006/relationships" id="267" r:id="R10adfec8f66a4804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f4177d71dc4ea1" /><Relationship Type="http://schemas.openxmlformats.org/officeDocument/2006/relationships/theme" Target="/ppt/theme/theme1.xml" Id="Rd14ee6e76be8469b" /><Relationship Type="http://schemas.openxmlformats.org/officeDocument/2006/relationships/notesMaster" Target="/ppt/notesMasters/notesMaster1.xml" Id="R7fb27fa6f67e4dc5" /><Relationship Type="http://schemas.openxmlformats.org/officeDocument/2006/relationships/presProps" Target="/ppt/presProps.xml" Id="Reff531a24c0f4b91" /><Relationship Type="http://schemas.openxmlformats.org/officeDocument/2006/relationships/viewProps" Target="/ppt/viewProps.xml" Id="Rb8eb6fb50a6148e8" /><Relationship Type="http://schemas.openxmlformats.org/officeDocument/2006/relationships/tableStyles" Target="/ppt/tableStyles.xml" Id="R9b10890ff7344439" /><Relationship Type="http://schemas.openxmlformats.org/officeDocument/2006/relationships/slide" Target="/ppt/slides/slide1.xml" Id="Rd408faac40eb4fd5" /><Relationship Type="http://schemas.openxmlformats.org/officeDocument/2006/relationships/slide" Target="/ppt/slides/slide2.xml" Id="Ra4cfb42c5d6f41f8" /><Relationship Type="http://schemas.openxmlformats.org/officeDocument/2006/relationships/slide" Target="/ppt/slides/slide3.xml" Id="R7c9ed09865054d18" /><Relationship Type="http://schemas.openxmlformats.org/officeDocument/2006/relationships/slide" Target="/ppt/slides/slide4.xml" Id="Re77a22afda234991" /><Relationship Type="http://schemas.openxmlformats.org/officeDocument/2006/relationships/slide" Target="/ppt/slides/slide5.xml" Id="Rd09aa40c668240bc" /><Relationship Type="http://schemas.openxmlformats.org/officeDocument/2006/relationships/slide" Target="/ppt/slides/slide6.xml" Id="R1a6e25a8a6ca4976" /><Relationship Type="http://schemas.openxmlformats.org/officeDocument/2006/relationships/slide" Target="/ppt/slides/slide7.xml" Id="Rdafbd07002b74007" /><Relationship Type="http://schemas.openxmlformats.org/officeDocument/2006/relationships/slide" Target="/ppt/slides/slide8.xml" Id="Rb321af8207994240" /><Relationship Type="http://schemas.openxmlformats.org/officeDocument/2006/relationships/slide" Target="/ppt/slides/slide9.xml" Id="R42272b0220f54b7b" /><Relationship Type="http://schemas.openxmlformats.org/officeDocument/2006/relationships/slide" Target="/ppt/slides/slide10.xml" Id="Rfb0410a0e4404695" /><Relationship Type="http://schemas.openxmlformats.org/officeDocument/2006/relationships/slide" Target="/ppt/slides/slide11.xml" Id="Rde636fea348944f8" /><Relationship Type="http://schemas.openxmlformats.org/officeDocument/2006/relationships/slide" Target="/ppt/slides/slide12.xml" Id="R10adfec8f66a48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09febf4f4be4a2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62edcec9e6430b" /><Relationship Type="http://schemas.openxmlformats.org/officeDocument/2006/relationships/notesMaster" Target="/ppt/notesMasters/notesMaster1.xml" Id="Rf5876d513c6d464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8f79e25e7c24f83" /><Relationship Type="http://schemas.openxmlformats.org/officeDocument/2006/relationships/notesMaster" Target="/ppt/notesMasters/notesMaster1.xml" Id="R5c38d7afb54b454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c9ef6b7164ca6" /><Relationship Type="http://schemas.openxmlformats.org/officeDocument/2006/relationships/notesMaster" Target="/ppt/notesMasters/notesMaster1.xml" Id="Rcbeb42728b1946b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80737f989a74e8b" /><Relationship Type="http://schemas.openxmlformats.org/officeDocument/2006/relationships/notesMaster" Target="/ppt/notesMasters/notesMaster1.xml" Id="R5363c4de032a43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3cdd3771a2d4add" /><Relationship Type="http://schemas.openxmlformats.org/officeDocument/2006/relationships/notesMaster" Target="/ppt/notesMasters/notesMaster1.xml" Id="R94795f13ebe740a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a08df043f843fa" /><Relationship Type="http://schemas.openxmlformats.org/officeDocument/2006/relationships/notesMaster" Target="/ppt/notesMasters/notesMaster1.xml" Id="R5ff3f44533e94ba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3d35b8e9da4445" /><Relationship Type="http://schemas.openxmlformats.org/officeDocument/2006/relationships/notesMaster" Target="/ppt/notesMasters/notesMaster1.xml" Id="R992af9dd29da41b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709a0e9498642a5" /><Relationship Type="http://schemas.openxmlformats.org/officeDocument/2006/relationships/notesMaster" Target="/ppt/notesMasters/notesMaster1.xml" Id="Ra66b70d7b460479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32dd7bcadd4ce2" /><Relationship Type="http://schemas.openxmlformats.org/officeDocument/2006/relationships/notesMaster" Target="/ppt/notesMasters/notesMaster1.xml" Id="R0bb8651987e343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7d69252e9a44bb8" /><Relationship Type="http://schemas.openxmlformats.org/officeDocument/2006/relationships/notesMaster" Target="/ppt/notesMasters/notesMaster1.xml" Id="R49b595b3a939457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4f1938ecc9f4caf" /><Relationship Type="http://schemas.openxmlformats.org/officeDocument/2006/relationships/notesMaster" Target="/ppt/notesMasters/notesMaster1.xml" Id="R778c32dd2a7d419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b141da1888e4264" /><Relationship Type="http://schemas.openxmlformats.org/officeDocument/2006/relationships/notesMaster" Target="/ppt/notesMasters/notesMaster1.xml" Id="R7ccdb6692ffe49d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010ff648654ff5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6e1d31c08d74081" /><Relationship Type="http://schemas.openxmlformats.org/officeDocument/2006/relationships/slideLayout" Target="/ppt/slideLayouts/slideLayout2.xml" Id="R239e32ff765d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9e32ff765d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bda66990264f52" /><Relationship Type="http://schemas.openxmlformats.org/officeDocument/2006/relationships/image" Target="/ppt/media/image.png" Id="R06dbc56f50dc4893" /><Relationship Type="http://schemas.openxmlformats.org/officeDocument/2006/relationships/image" Target="/ppt/media/image2.png" Id="R192318c2c8354e1a" /><Relationship Type="http://schemas.openxmlformats.org/officeDocument/2006/relationships/notesSlide" Target="/ppt/notesSlides/notesSlide1.xml" Id="Rd3fe640c79f142a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c4f07707e3a482e" /><Relationship Type="http://schemas.openxmlformats.org/officeDocument/2006/relationships/image" Target="/ppt/media/image3.png" Id="R59f8458f88534a36" /><Relationship Type="http://schemas.openxmlformats.org/officeDocument/2006/relationships/notesSlide" Target="/ppt/notesSlides/notesSlide2.xml" Id="R077008c003ba4a8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34d96ec7ac2407f" /><Relationship Type="http://schemas.openxmlformats.org/officeDocument/2006/relationships/image" Target="/ppt/media/image4.png" Id="Rea7dd68a5b214d61" /><Relationship Type="http://schemas.openxmlformats.org/officeDocument/2006/relationships/notesSlide" Target="/ppt/notesSlides/notesSlide3.xml" Id="R28ccb9ffe1b649b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7d1a1e9389f4033" /><Relationship Type="http://schemas.openxmlformats.org/officeDocument/2006/relationships/image" Target="/ppt/media/image5.png" Id="R3eb7bb1c41af4caf" /><Relationship Type="http://schemas.openxmlformats.org/officeDocument/2006/relationships/notesSlide" Target="/ppt/notesSlides/notesSlide4.xml" Id="R96e0f379710449c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afd88753eb44174" /><Relationship Type="http://schemas.openxmlformats.org/officeDocument/2006/relationships/image" Target="/ppt/media/image6.png" Id="Red678d84d2784aeb" /><Relationship Type="http://schemas.openxmlformats.org/officeDocument/2006/relationships/notesSlide" Target="/ppt/notesSlides/notesSlide5.xml" Id="R258269d5aa7f4b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76179b66ca444a" /><Relationship Type="http://schemas.openxmlformats.org/officeDocument/2006/relationships/image" Target="/ppt/media/image7.png" Id="R8440d302e25247e1" /><Relationship Type="http://schemas.openxmlformats.org/officeDocument/2006/relationships/image" Target="/ppt/media/image8.png" Id="Rc55fae3865cf418d" /><Relationship Type="http://schemas.openxmlformats.org/officeDocument/2006/relationships/notesSlide" Target="/ppt/notesSlides/notesSlide6.xml" Id="R47221bb0f2054b7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c30ddbe3be46b5" /><Relationship Type="http://schemas.openxmlformats.org/officeDocument/2006/relationships/image" Target="/ppt/media/image9.png" Id="R93a8476d7cd4433f" /><Relationship Type="http://schemas.openxmlformats.org/officeDocument/2006/relationships/image" Target="/ppt/media/image10.png" Id="Rfbf472ad69ca4226" /><Relationship Type="http://schemas.openxmlformats.org/officeDocument/2006/relationships/notesSlide" Target="/ppt/notesSlides/notesSlide7.xml" Id="R16f727cb1213442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c035baf2c3f4ee5" /><Relationship Type="http://schemas.openxmlformats.org/officeDocument/2006/relationships/image" Target="/ppt/media/image11.png" Id="Re7c7c070b76c459f" /><Relationship Type="http://schemas.openxmlformats.org/officeDocument/2006/relationships/notesSlide" Target="/ppt/notesSlides/notesSlide8.xml" Id="R9f14cfcd7dce4f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57d260c8af4dfc" /><Relationship Type="http://schemas.openxmlformats.org/officeDocument/2006/relationships/image" Target="/ppt/media/image12.png" Id="Re8af8efac66d4d48" /><Relationship Type="http://schemas.openxmlformats.org/officeDocument/2006/relationships/notesSlide" Target="/ppt/notesSlides/notesSlide9.xml" Id="R14dfd0f8bdbf4d4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7f6cd8f7fc14ac2" /><Relationship Type="http://schemas.openxmlformats.org/officeDocument/2006/relationships/image" Target="/ppt/media/image13.png" Id="R6b2636da34ee4c12" /><Relationship Type="http://schemas.openxmlformats.org/officeDocument/2006/relationships/notesSlide" Target="/ppt/notesSlides/notesSlide10.xml" Id="Ra05ad9a01ce0410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c2999c3056746ec" /><Relationship Type="http://schemas.openxmlformats.org/officeDocument/2006/relationships/image" Target="/ppt/media/image14.png" Id="R649cbf88ebab430a" /><Relationship Type="http://schemas.openxmlformats.org/officeDocument/2006/relationships/notesSlide" Target="/ppt/notesSlides/notesSlide11.xml" Id="Rf948ef26d05d411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cece25221e42ac" /><Relationship Type="http://schemas.openxmlformats.org/officeDocument/2006/relationships/image" Target="/ppt/media/image15.png" Id="R20e0c423d19846f6" /><Relationship Type="http://schemas.openxmlformats.org/officeDocument/2006/relationships/notesSlide" Target="/ppt/notesSlides/notesSlide12.xml" Id="Ra3c89186910d483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C9944-D9A0-45A8-A92E-067B62FE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3400"/>
            <a:ext cx="14535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VITARICH • VITA FMS</a:t>
            </a:r>
          </a:p>
        </p:txBody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dbc56f50dc4893"/>
          <a:stretch xmlns:a="http://schemas.openxmlformats.org/drawingml/2006/main"/>
        </p:blipFill>
        <p:spPr>
          <a:xfrm xmlns:a="http://schemas.openxmlformats.org/drawingml/2006/main">
            <a:off x="16163925" y="53340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552EEE-EB70-4352-AEB3-2F5F6822A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76350"/>
            <a:ext cx="1653540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850" b="1">
                <a:solidFill>
                  <a:srgbClr val="063B2B"/>
                </a:solidFill>
              </a:defRPr>
            </a:pPr>
            <a:r>
              <a:rPr sz="5850" b="1">
                <a:solidFill>
                  <a:srgbClr val="063B2B"/>
                </a:solidFill>
              </a:rPr>
              <a:t>TOTAL PROJECT</a:t>
            </a:r>
          </a:p>
          <a:p xmlns:a="http://schemas.openxmlformats.org/drawingml/2006/main">
            <a:pPr>
              <a:defRPr sz="5850" b="1">
                <a:solidFill>
                  <a:srgbClr val="063B2B"/>
                </a:solidFill>
              </a:defRPr>
            </a:pPr>
            <a:r>
              <a:rPr sz="5850" b="1">
                <a:solidFill>
                  <a:srgbClr val="063B2B"/>
                </a:solidFill>
              </a:rPr>
              <a:t>UPDATE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1BE06-B62A-4D32-98DC-4C91436B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16535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5B3C"/>
                </a:solidFill>
              </a:defRPr>
            </a:pPr>
            <a:r>
              <a:rPr sz="2100" b="1">
                <a:solidFill>
                  <a:srgbClr val="0B5B3C"/>
                </a:solidFill>
              </a:rPr>
              <a:t>May 1 – August 25,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CB5417-6E26-4103-8784-19A3ECB83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139065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736D"/>
                </a:solidFill>
              </a:defRPr>
            </a:pPr>
            <a:r>
              <a:rPr sz="1725">
                <a:solidFill>
                  <a:srgbClr val="66736D"/>
                </a:solidFill>
              </a:rPr>
              <a:t>A connected view of operational delivery, module dependencies, release boundaries, and the decisions needed to convert build momentum into controlled adoption.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2318c2c8354e1a"/>
          <a:srcRect xmlns:a="http://schemas.openxmlformats.org/drawingml/2006/main" l="0" t="27096" r="0" b="2709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572125"/>
            <a:ext cx="18288000" cy="47148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7775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81F646-B88E-4C78-A099-CC2E5EB18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EXECUTIVE READ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0CCEC-917C-4B0F-8EA5-FE0BB5DA6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The project is now an operating model—not a set of isolated screens.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8458f88534a36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B9E42B-2324-4481-8A7E-BABABEF94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85CB0B-65A7-48F2-BAB5-04C012B0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6381750" cy="2000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B5B3C"/>
                </a:solidFill>
              </a:defRPr>
            </a:pPr>
            <a:r>
              <a:rPr sz="3975" b="1">
                <a:solidFill>
                  <a:srgbClr val="0B5B3C"/>
                </a:solidFill>
              </a:rPr>
              <a:t>ONE CONNECTED</a:t>
            </a:r>
          </a:p>
          <a:p xmlns:a="http://schemas.openxmlformats.org/drawingml/2006/main">
            <a:pPr>
              <a:defRPr sz="3975" b="1">
                <a:solidFill>
                  <a:srgbClr val="0B5B3C"/>
                </a:solidFill>
              </a:defRPr>
            </a:pPr>
            <a:r>
              <a:rPr sz="3975" b="1">
                <a:solidFill>
                  <a:srgbClr val="0B5B3C"/>
                </a:solidFill>
              </a:rPr>
              <a:t>OPERATING SPINE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47EA69-597B-485D-970D-1D84075F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63817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8332A"/>
                </a:solidFill>
              </a:defRPr>
            </a:pPr>
            <a:r>
              <a:rPr sz="1725">
                <a:solidFill>
                  <a:srgbClr val="18332A"/>
                </a:solidFill>
              </a:rPr>
              <a:t>Farm identity, access control, inventory movement, production workflows, traceability, approvals, and notifications increasingly share the same foundation.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3E45A1-D6CF-4EB6-8E24-7F34A03FB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34050"/>
            <a:ext cx="5143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8D696-67FB-427B-9B9D-9A8BCF3E3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96215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98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B7296E-C5BD-4328-9005-0992E3D6C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241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integrated commits on dev-main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B91E8-FF13-4422-8064-CF1998F1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6235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6A629"/>
                </a:solidFill>
              </a:defRPr>
            </a:pPr>
            <a:r>
              <a:rPr sz="4200" b="1">
                <a:solidFill>
                  <a:srgbClr val="D6A629"/>
                </a:solidFill>
              </a:rPr>
              <a:t>469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ADDD9A-D2D7-413F-A17B-3F9A953CF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243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files changed from the April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38779D-1FA3-4051-BAAB-926F4ED97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62550"/>
            <a:ext cx="30289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8EBF42"/>
                </a:solidFill>
              </a:defRPr>
            </a:pPr>
            <a:r>
              <a:rPr sz="4200" b="1">
                <a:solidFill>
                  <a:srgbClr val="8EBF42"/>
                </a:solidFill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16E31-A5C4-4FC5-9D68-1A860378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924550"/>
            <a:ext cx="30289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contributors across audited refs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6FFA5-B8C8-41BF-9073-79CEAD2A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196215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6A629"/>
                </a:solidFill>
              </a:defRPr>
            </a:pPr>
            <a:r>
              <a:rPr sz="1500" b="1">
                <a:solidFill>
                  <a:srgbClr val="D6A629"/>
                </a:solidFill>
              </a:rPr>
              <a:t>What this means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3EFAC-D8C4-419C-85D6-E0D09253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41935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32A"/>
                </a:solidFill>
              </a:defRPr>
            </a:pPr>
            <a:r>
              <a:rPr sz="1575">
                <a:solidFill>
                  <a:srgbClr val="18332A"/>
                </a:solidFill>
              </a:rPr>
              <a:t>• Broiler now has an end-to-end lifecycle from placement through clean-up.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DF4C3-2541-48A1-8339-35A6AB10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289560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32A"/>
                </a:solidFill>
              </a:defRPr>
            </a:pPr>
            <a:r>
              <a:rPr sz="1575">
                <a:solidFill>
                  <a:srgbClr val="18332A"/>
                </a:solidFill>
              </a:rPr>
              <a:t>• Inventory is the shared posting and traceability backbone.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8B650-90C2-485E-B94A-1BA9021B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35280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32A"/>
                </a:solidFill>
              </a:defRPr>
            </a:pPr>
            <a:r>
              <a:rPr sz="1575">
                <a:solidFill>
                  <a:srgbClr val="18332A"/>
                </a:solidFill>
              </a:rPr>
              <a:t>• Hatchery and Breeder have material workflow coverage, with specific branch-only boundaries.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FD9C3-204E-44D1-B1D9-D05EFF177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3829050"/>
            <a:ext cx="6286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8332A"/>
                </a:solidFill>
              </a:defRPr>
            </a:pPr>
            <a:r>
              <a:rPr sz="1575">
                <a:solidFill>
                  <a:srgbClr val="18332A"/>
                </a:solidFill>
              </a:rPr>
              <a:t>• Governance shifted from route-level controls toward hierarchy, permissions, approvals, and centralized events.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9B8793-0760-4A35-AFDD-7155711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DAC8AE7-29D5-4559-B75E-215D14B39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5451087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3696A6C-20A7-48CD-AE12-A9FC2FF73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DELIVERY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32124B-8F94-4FFE-B49F-3901ED86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Sustained execution across four consecutive months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7dd68a5b214d61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93CB7-729A-4001-961C-BC05C8B4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AFA009-5B44-4A31-A8FA-BA216AD39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10287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INTEGRATED COMMITS BY MONTH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C02F60-3CC2-4E58-9EFC-7537693F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MAY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C7C91F-1322-4EA2-9859-A0FEB4701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765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B3C"/>
          </a:solidFill>
          <a:ln xmlns:a="http://schemas.openxmlformats.org/drawingml/2006/main" w="0">
            <a:solidFill>
              <a:srgbClr val="0B5B3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281A10-944D-46C3-9A41-7FA361F74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5B3C"/>
                </a:solidFill>
              </a:defRPr>
            </a:pPr>
            <a:r>
              <a:rPr sz="1950" b="1">
                <a:solidFill>
                  <a:srgbClr val="0B5B3C"/>
                </a:solidFill>
              </a:rPr>
              <a:t>24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C7A8F-03EB-4780-A147-370334AD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76500"/>
            <a:ext cx="21526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61CFE6-4D3A-43A2-A5A9-452817DEB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766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JUNE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040901-8C46-425A-8645-88E94029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276600"/>
            <a:ext cx="6572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35FC6D-674C-4FD1-AD01-1229501F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7660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6A629"/>
                </a:solidFill>
              </a:defRPr>
            </a:pPr>
            <a:r>
              <a:rPr sz="1950" b="1">
                <a:solidFill>
                  <a:srgbClr val="D6A629"/>
                </a:solidFill>
              </a:rPr>
              <a:t>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50294-CD2E-4F48-89BA-5C78FCFD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276600"/>
            <a:ext cx="13906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DE5ED-E7A3-4055-9CA4-17C588A3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JULY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DFE4E0-D3A3-4C15-83C7-387470A1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57650"/>
            <a:ext cx="6286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B3C"/>
          </a:solidFill>
          <a:ln xmlns:a="http://schemas.openxmlformats.org/drawingml/2006/main" w="0">
            <a:solidFill>
              <a:srgbClr val="0B5B3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335EB9-1D69-404A-9047-94A75C51E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5765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B5B3C"/>
                </a:solidFill>
              </a:defRPr>
            </a:pPr>
            <a:r>
              <a:rPr sz="1950" b="1">
                <a:solidFill>
                  <a:srgbClr val="0B5B3C"/>
                </a:solidFill>
              </a:rPr>
              <a:t>26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F08B1-2B3E-4779-BEAE-55C5BC0A7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057650"/>
            <a:ext cx="16764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5BA61D-C0DF-4233-9F34-23DEEAB9D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AUG*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437960-7D1A-4CAA-A5BC-2B272702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857750"/>
            <a:ext cx="504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C38C20-D1F8-470B-B5B5-830E35603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85775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D6A629"/>
                </a:solidFill>
              </a:defRPr>
            </a:pPr>
            <a:r>
              <a:rPr sz="1950" b="1">
                <a:solidFill>
                  <a:srgbClr val="D6A629"/>
                </a:solidFill>
              </a:rPr>
              <a:t>21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606874-A80D-4584-8E24-C915237B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57750"/>
            <a:ext cx="29146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753880-A6CE-4506-9378-68D720478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38800"/>
            <a:ext cx="10287000" cy="38290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63B2B"/>
                </a:solidFill>
              </a:defRPr>
            </a:pPr>
            <a:r>
              <a:rPr sz="2250" b="1">
                <a:solidFill>
                  <a:srgbClr val="063B2B"/>
                </a:solidFill>
              </a:rPr>
              <a:t>98 integrated commits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03B370-7BAB-4A26-BD2A-90B22EDDB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67450"/>
            <a:ext cx="10287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36D"/>
                </a:solidFill>
              </a:defRPr>
            </a:pPr>
            <a:r>
              <a:rPr sz="975">
                <a:solidFill>
                  <a:srgbClr val="66736D"/>
                </a:solidFill>
              </a:rPr>
              <a:t>*Through August 21 integrated history; report current through August 25.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E94B3F-963B-4376-8F99-9D7CF3AD2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194310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85,930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86DA78-AC86-478D-A954-1AB4D404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2705100"/>
            <a:ext cx="5638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lines added from the April 29 baseline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665371-EC6A-4DDE-8F2C-49117A421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346710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6A629"/>
                </a:solidFill>
              </a:defRPr>
            </a:pPr>
            <a:r>
              <a:rPr sz="4200" b="1">
                <a:solidFill>
                  <a:srgbClr val="D6A629"/>
                </a:solidFill>
              </a:rPr>
              <a:t>7,483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F23CF0-BC7E-44DA-8E3C-8C4949038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229100"/>
            <a:ext cx="5638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lines removed—evidence of replacement and cleanup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DDEADBD-E377-47CA-9E77-92CEC335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4991100"/>
            <a:ext cx="5638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B94A3D"/>
                </a:solidFill>
              </a:defRPr>
            </a:pPr>
            <a:r>
              <a:rPr sz="4200" b="1">
                <a:solidFill>
                  <a:srgbClr val="B94A3D"/>
                </a:solidFill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1B7CFB-B185-4CC1-9A9E-F2711F21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5753100"/>
            <a:ext cx="5638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feature commits still outside dev-main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9C96F0-4D80-4120-B386-409CBFBAD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72900" y="6515100"/>
            <a:ext cx="56388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Source: refreshed GitHub remote refs and local Git history.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D784FA-A193-4DD9-ABE2-42D9611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25A5DCE-24EA-4CE1-94C3-A1798746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2057120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C85AC0-50BB-4B2F-A1CF-16DBB2C07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PORTFOLIO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A96951-7509-4CDB-B265-A73D74F6B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What is connected to what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b7bb1c41af4caf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AC2A6A-7C64-433C-9329-B589F525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CDC9D4-294E-4A9D-9D30-4F505F18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B2B"/>
                </a:solidFill>
              </a:defRPr>
            </a:pPr>
            <a:r>
              <a:rPr sz="1575" b="1">
                <a:solidFill>
                  <a:srgbClr val="063B2B"/>
                </a:solidFill>
              </a:rPr>
              <a:t>FARM + USER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DD104-A862-409B-A6CB-94D64D68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Canonical farm identity • FMS scope • permissions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C50617-6FAE-4FA2-A5CB-4D770D0F3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A61922-DF52-4D39-ABF2-1C46BFCBA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9240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FMS WORKFLOWS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3F35EF-9038-4362-8871-0C87F9E98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Broiler • Hatchery • Breeder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0E5F4D-5045-457B-AB76-A30A2CBC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CBDE04-E129-4CA9-8BDA-842ABB62F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9240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INVENTORY LEDGER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097C2-1C82-425A-8DD3-FAFE2C25E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Receipts • issues • transfers • signed postings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995A94-D007-4A35-B9F8-C7356DBA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048759-5B71-4C6D-B9E6-41D2F5CA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1924050"/>
            <a:ext cx="35623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63B2B"/>
                </a:solidFill>
              </a:defRPr>
            </a:pPr>
            <a:r>
              <a:rPr sz="1575" b="1">
                <a:solidFill>
                  <a:srgbClr val="063B2B"/>
                </a:solidFill>
              </a:rPr>
              <a:t>REPORTING + TRACE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1ACAC29-1BC8-4819-BF5F-504A89B68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9350" y="2400300"/>
            <a:ext cx="35623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Warehouse balances • document lineage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80151F-BE29-497D-9C75-A8CD460B2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629"/>
                </a:solidFill>
              </a:defRPr>
            </a:pPr>
            <a:r>
              <a:rPr sz="1350" b="1">
                <a:solidFill>
                  <a:srgbClr val="D6A629"/>
                </a:solidFill>
              </a:rPr>
              <a:t>CONFIGURATION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BCB429-ACB9-4245-8464-4129CCBC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29100"/>
            <a:ext cx="752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32A"/>
                </a:solidFill>
              </a:defRPr>
            </a:pPr>
            <a:r>
              <a:rPr sz="1500">
                <a:solidFill>
                  <a:srgbClr val="18332A"/>
                </a:solidFill>
              </a:rPr>
              <a:t>Settings govern operational behavior: cycle rules, DOC placement, Flock Card, Harvest &amp; Delivery, Clean-up, item groups, batch logic, and approvals.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79D505-5744-4ABC-BF05-C768126B9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95700"/>
            <a:ext cx="762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59431C-7C3D-44A9-BF83-6818B5366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3695700"/>
            <a:ext cx="7524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3B2B"/>
                </a:solidFill>
              </a:defRPr>
            </a:pPr>
            <a:r>
              <a:rPr sz="1350" b="1">
                <a:solidFill>
                  <a:srgbClr val="063B2B"/>
                </a:solidFill>
              </a:rPr>
              <a:t>CONTROL LAYER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9CD7FE-046E-4457-A1B3-E27B62BF1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229100"/>
            <a:ext cx="75247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32A"/>
                </a:solidFill>
              </a:defRPr>
            </a:pPr>
            <a:r>
              <a:rPr sz="1500">
                <a:solidFill>
                  <a:srgbClr val="18332A"/>
                </a:solidFill>
              </a:rPr>
              <a:t>Central permissions, approval routing, notification rules, event catalog, deduplication, and farm-scoped recipient resolution.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2F095-8046-426D-9969-73C975EF1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531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A629"/>
                </a:solidFill>
              </a:defRPr>
            </a:pPr>
            <a:r>
              <a:rPr sz="1275" b="1">
                <a:solidFill>
                  <a:srgbClr val="D6A629"/>
                </a:solidFill>
              </a:rPr>
              <a:t>Design principle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26AA90-B22B-4E21-AA38-CA15CB42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72200"/>
            <a:ext cx="16535400" cy="3573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63B2B"/>
                </a:solidFill>
              </a:defRPr>
            </a:pPr>
            <a:r>
              <a:rPr sz="2100" b="1">
                <a:solidFill>
                  <a:srgbClr val="063B2B"/>
                </a:solidFill>
              </a:rPr>
              <a:t>Operational modules publish business outcomes; shared services decide authorization, routing, reporting, and delivery.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1C3D02-AAF2-4400-9A3E-58016B82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ECEECC-D118-4600-A640-FDF86416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99466092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85A377-2B61-48FA-A1FC-8035CE84E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FMS CATEGORY • BROILER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89531-4E27-4316-823C-B4704A5B7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A governed production lifecycle from placement to close-out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678d84d2784aeb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4B346-CA26-43F6-A7E2-79494D09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E7E9FE-E449-43F7-9906-EB923F68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CYCLE MASTER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269E8-243B-4C09-BC6E-6506839CA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Farm-cycle authority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F9C4E6-53B0-4CBD-A357-CDCE48F5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3D1953-E9F4-4E43-B2C2-294612B04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DOC PLACEMENT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0F6B8F-83D3-44C5-9416-301884219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3812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Route: /inv/doc-receiving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15AE22-1A88-4017-827C-463C3DC7A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05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8E6938-8D53-4B12-90CA-F3E09925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0500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GROWING &amp; FARM CONDITION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84E34C-F490-418F-B234-29B42151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812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Flock 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B1981D-E517-4ABC-8024-218F73286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05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71E67-4319-4414-B87D-AB6469E7F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190500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HARVEST &amp; DELIVERY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D1AF6E-608B-4C48-B4EB-1445510D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3300" y="23812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Batch allocation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93E5C1-B369-4DAE-AB10-1FA045A3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58900" y="1905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2E6EA0-653E-4B84-9695-34F438686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190500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CLEAN-UP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45E0FF-152D-45FA-9D48-1D497A6D1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2381250"/>
            <a:ext cx="28194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Closure + reconciliation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BA3F00-69A4-472A-9496-5B27A3674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SETTINGS → OPERATIONS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0A5959-AC09-443C-807E-696087C5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DOC Placement Settings → DOC Placement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F29ED7-1499-48E5-B127-4E6D634F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Flock Card Settings → Growing &amp; Farm Condition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4DD114-C643-4CD0-9963-B2C426229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38550"/>
            <a:ext cx="78867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SETTINGS → OPERATIONS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C18E1A0-B11C-481C-A5F0-21D91D6DE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005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Harvest &amp; Delivery Settings → Harvest &amp; Delivery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9BBB78A-3B70-4783-8929-B09A550D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419600"/>
            <a:ext cx="78867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Clean-up Settings → Clean-up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D92C63-F2D5-46C0-9122-4CE9F6C8F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5124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END-TO-END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AFFEAF9-777B-4077-B2F4-89790FEEF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29350"/>
            <a:ext cx="5124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placement, daily operations, delivery, and closure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BFD220-CDDB-422A-A787-C24E7FB8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1990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Inventory postings and farm cycle state connect each stage.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0CC9E95-599F-4793-9DC8-E090DEAC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5448300"/>
            <a:ext cx="5124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CONTROLLED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051424-9BC2-4E5D-B042-E769A3CA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229350"/>
            <a:ext cx="5124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date windows, batch rules, closure criteria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2F78B78-DB96-43B7-91AA-1A8E7DED6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681990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Exact business rules are centralized in settings and shared validation.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EF512BA-C99D-4F38-9E85-9804586FD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5448300"/>
            <a:ext cx="512445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TRACEABLE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09A0420-D3DD-458C-968A-15FC5107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229350"/>
            <a:ext cx="51244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document, batch, farm, and source lineage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A3F7EF-9D6F-438C-BC81-FAE25B79F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6819900"/>
            <a:ext cx="5124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Warehouse reporting provides the reconciliation view.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60C36E-98A2-47BD-ADAE-A42752F43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44D31F-DF8B-4952-BF5D-0963EBAE5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46751415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A71A47-7362-4ABA-AF7D-34C24501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FMS CATEGORY • INVENTORY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A7457C-1488-409C-A98B-E993A05E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The shared transaction and reconciliation backbone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0d302e25247e1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6349C-AE0A-42B4-86D9-A408053D2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06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5fae3865cf418d"/>
          <a:srcRect xmlns:a="http://schemas.openxmlformats.org/drawingml/2006/main" l="19728" t="0" r="197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933575"/>
            <a:ext cx="6762750" cy="6286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15F1F1-9003-4687-826D-127E3CD9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9431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ITEM MASTER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C02C4E-A697-4B10-8CAC-87F2FC44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6098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186B34-4A7C-4383-BD43-114956AF5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19431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7AB431-2CAC-4CDB-9AA0-B34A00ECB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19431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ITEM GROUP + UOM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772B0-91F7-4F34-8BFA-E6EF0C89A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2419350"/>
            <a:ext cx="26098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9066F5-C448-4F2F-A167-B99E91EB2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19431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7A4DD-48E4-4392-A2B5-C0462EA2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19431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BATCH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6DE09D-C57C-47D5-BCD7-855034592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2419350"/>
            <a:ext cx="260985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1A933D-04AC-468B-BE60-63670A9B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48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ITEM STOCK 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D48966-A6DD-4100-A5BA-C6FA0EE2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524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Goods receipt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4395B6-B024-4CEB-B7F9-F30E43905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3048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6425EC-56E8-4782-9AAF-3382060D9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048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SIGNED POSTINGS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9F67DD-4512-46A6-A004-63D6BFC3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3524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Canonical ledger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3BCEA6-0141-41D4-A23E-32E96884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3048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95ECAA-3672-4C11-AC84-A24459B3B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3048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WAREHOUSE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AA47C0-F509-40BA-A70A-198ECC84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3524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Running balance + exports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77B74B-9DFF-45A2-A67A-69A657DDA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72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ITEM STOCK OUT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8EC56E-4E15-4CEF-BC57-58C724EC5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048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Goods issue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0871B6-509D-41B4-AD9E-633540C67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4572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064FB9-2456-402F-AFEA-847E02A0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4572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TRANSFER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38AE5B-5173-4F49-9C66-7CE19D78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68100" y="5048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Origin ↔ destination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682117-C969-4DF5-974A-A72CD2198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45720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F28A20B-019E-4697-872B-C460916A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4572000"/>
            <a:ext cx="26098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AUDIT TRAIL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C2B39-B4EA-418B-8BC8-81A014F59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01850" y="5048250"/>
            <a:ext cx="26098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36D"/>
                </a:solidFill>
              </a:defRPr>
            </a:pPr>
            <a:r>
              <a:rPr sz="1050">
                <a:solidFill>
                  <a:srgbClr val="66736D"/>
                </a:solidFill>
              </a:rPr>
              <a:t>Document lineage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8FBE66-058B-4F05-AAC1-6312C9B5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115050"/>
            <a:ext cx="8477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FE8287-3185-44E2-8DEB-CFB8BD46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362700"/>
            <a:ext cx="9277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A629"/>
                </a:solidFill>
              </a:defRPr>
            </a:pPr>
            <a:r>
              <a:rPr sz="1275" b="1">
                <a:solidFill>
                  <a:srgbClr val="D6A629"/>
                </a:solidFill>
              </a:rPr>
              <a:t>Connected consumers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54F171-6042-48CA-B821-1BD349C21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6896100"/>
            <a:ext cx="9277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DOC Placement receives chicks • Flock Card consumes feed and mortality items • Harvest &amp; Delivery allocates flock batches • Hatchery Receiving posts source inventory.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6CDED2-0D1A-424D-A1BD-FDFB6CAC7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816B707-DAF4-429B-929A-3391395D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92695558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93BD7EF-591B-444E-99B2-1C867463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FMS CATEGORY • HATCHERY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FA673F-B49D-4A93-8C13-FA6521F2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Receiving and egg-to-DOC process coverage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a8476d7cd4433f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DD9CF5-0441-4910-BDED-BAD77866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07</a:t>
            </a:r>
          </a:p>
        </p:txBody>
      </p:sp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472ad69ca4226"/>
          <a:srcRect xmlns:a="http://schemas.openxmlformats.org/drawingml/2006/main" l="11083" t="0" r="1108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6300" y="1933575"/>
            <a:ext cx="6191250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DAD03-8596-468A-8A82-BB003BA2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19850"/>
            <a:ext cx="619125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Hatchery Receiving is a distinct module from Broiler DOC Placement.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89AC7-941A-4B52-B029-0AC4D658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4310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RECEIVING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989D4-D033-42D4-8E77-835671F0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41935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B14F5-4ED8-439B-89B5-245B584BD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431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611FC0-67E0-465B-B97C-36687FDDE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4310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CLASSIFICATION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82AFCE-7BBC-488B-A884-9898AF41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41935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A29416-CD0A-4848-A243-D9F8A805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9431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BD91E6-E379-4F70-A0ED-7476FB4EA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194310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STORAGE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4D56EB-AB4E-45CD-8573-519ECBA5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241935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878B7-F35D-48C4-ACEA-E6E6EAA5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194310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99B700-CAAA-49BC-8E38-00E4A63A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194310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PRE-WARMING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B3F1E6-45EE-4478-88A1-F5563CF3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241935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B02067-244F-45F2-8EBB-3BCC43BE0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4325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SETTER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E58EEA-01D5-47CE-8D99-C17261CE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1950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AC84731-C67D-453D-8F8A-AE2EF61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432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D459E6A-A5D4-42A9-8BD8-5D422F830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14325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TRANSFER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FDA8B6-E267-4B6C-9E1D-2A3F77E9F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61950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B9FD86-0E31-4BD6-AE5E-AE14077D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1432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62F46D-7193-40A6-9F4F-D4DE85886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14325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HATCHER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FA8178-FB51-4292-9644-29527B23B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20650" y="361950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79BFBCE-2FD6-47E4-99B6-9C5D3397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31432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9BA984-775F-40DF-A227-40E2D732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143250"/>
            <a:ext cx="19812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CHICK PULLOUT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88EB55-B7C4-4E8D-AB9C-74B67758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0" y="3619500"/>
            <a:ext cx="19812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73AF052-BB1D-4B91-963A-BC2CF703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6245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DOC CLASSIFICATION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B614EC-8917-404A-9F02-18661BD7B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28194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FABA7B-2643-453E-AC82-D77C9B1D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3624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7F5C60-D25B-4461-8F89-10F4CC16B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36245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DOC DISPATCH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DD659A-DA39-4456-AFEA-7F853EA1D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8050" y="4838700"/>
            <a:ext cx="28194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31B98D-FD7D-4FA7-AD5A-F5B02BCFD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3624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F968104-F566-418C-86B1-E9CF32B6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362450"/>
            <a:ext cx="28194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DISPOSAL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43B049D-FC74-4709-8CAB-257BDDE7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92300" y="4838700"/>
            <a:ext cx="28194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803F2AE-0A61-45EC-BC48-3A13C734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562600"/>
            <a:ext cx="88582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69348DF-9602-4BE7-ADA0-C79EFDBAE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829300"/>
            <a:ext cx="9848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A629"/>
                </a:solidFill>
              </a:defRPr>
            </a:pPr>
            <a:r>
              <a:rPr sz="1275" b="1">
                <a:solidFill>
                  <a:srgbClr val="D6A629"/>
                </a:solidFill>
              </a:rPr>
              <a:t>Connected services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585273-FFF7-4898-9779-A1C21027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381750"/>
            <a:ext cx="9848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63B2B"/>
                </a:solidFill>
              </a:defRPr>
            </a:pPr>
            <a:r>
              <a:rPr sz="1650" b="1">
                <a:solidFill>
                  <a:srgbClr val="063B2B"/>
                </a:solidFill>
              </a:rPr>
              <a:t>Receiving → Inventory postings • Process steps → shared batch/source trace • Dispatch → downstream placement lineage • Permissions and notifications → centralized control.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78E6FB-D040-4A25-BE0E-0CF94EC86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6934200"/>
            <a:ext cx="9848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736D"/>
                </a:solidFill>
              </a:defRPr>
            </a:pPr>
            <a:r>
              <a:rPr sz="1275">
                <a:solidFill>
                  <a:srgbClr val="66736D"/>
                </a:solidFill>
              </a:rPr>
              <a:t>Current boundary: module coverage is substantial; end-to-end browser, SQL, and notification delivery verification remains an operational gate.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C098E70-61C6-4791-BB79-EF035121B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8B4209C-2EEC-4ED9-9A6B-BEF832F20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92910442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B03EEE-D455-4818-B0A2-FCB5053AD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FMS CATEGORY • BREEDER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5FACE6-9C9C-42CE-A022-CE9C52BD8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Production records are integrated; logistics enhancements remain branch-only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7c070b76c459f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01C2A7-FBD7-4525-B341-5100A1375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57A5A-571F-4355-8444-28BFFEEB1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8A195-97A2-4C5A-A6AF-0F07BEAFD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00300"/>
            <a:ext cx="27813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EF640-9898-4E75-BEA3-F20D5B9DB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067F86-9B12-4E36-BC0C-672FFCC7C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24050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POPULATION RECORD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B2CCBD-E062-4CA0-8B98-0406D547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00300"/>
            <a:ext cx="27813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78D78C-6508-4539-A88D-87283D66C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B1ED9C-BAD6-475D-B166-21BFA7EC1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24050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LAYING PRODUCTION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8878BE-9376-4D7D-915F-900A5FF8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00300"/>
            <a:ext cx="27813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4D612A-3294-4C74-AA61-5A4363A76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067E48-B746-44C6-8688-C010394D1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1924050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VACCINATION + MEDICATION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209088-DBCF-4A50-8567-015DE4A09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2400300"/>
            <a:ext cx="27813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38B9DC-5042-437E-901D-ADB9EEA5E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924050"/>
            <a:ext cx="4572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D6A629"/>
                </a:solidFill>
              </a:defRPr>
            </a:pPr>
            <a:r>
              <a:rPr sz="2400" b="1">
                <a:solidFill>
                  <a:srgbClr val="D6A629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21F49-13E1-4239-8C0E-F22B600C2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1924050"/>
            <a:ext cx="2781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5B3C"/>
                </a:solidFill>
              </a:defRPr>
            </a:pPr>
            <a:r>
              <a:rPr sz="1575" b="1">
                <a:solidFill>
                  <a:srgbClr val="0B5B3C"/>
                </a:solidFill>
              </a:rPr>
              <a:t>REPORTS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243BB1-119B-4962-951C-F5D2E223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0" y="2400300"/>
            <a:ext cx="2781300" cy="76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C1137E-3778-4FC8-8A9C-CF871FCBF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67150"/>
            <a:ext cx="794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B3C"/>
                </a:solidFill>
              </a:defRPr>
            </a:pPr>
            <a:r>
              <a:rPr sz="1350" b="1">
                <a:solidFill>
                  <a:srgbClr val="0B5B3C"/>
                </a:solidFill>
              </a:rPr>
              <a:t>INTEGRATED ON DEV-MAIN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8C85E-CF22-442C-A197-D76F83CBD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32A"/>
                </a:solidFill>
              </a:defRPr>
            </a:pPr>
            <a:r>
              <a:rPr sz="1650">
                <a:solidFill>
                  <a:srgbClr val="18332A"/>
                </a:solidFill>
              </a:rPr>
              <a:t>Growing and grading workflows • Breeder navigation • core production records • shared farm and permission controls.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909239-559F-42B4-9363-4FB0BB4EC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867150"/>
            <a:ext cx="79438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4A3D"/>
                </a:solidFill>
              </a:defRPr>
            </a:pPr>
            <a:r>
              <a:rPr sz="1350" b="1">
                <a:solidFill>
                  <a:srgbClr val="B94A3D"/>
                </a:solidFill>
              </a:rPr>
              <a:t>BRANCH-ONLY: DEV-BAJA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96CFD-8DAC-4799-9608-40CB5F0E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196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8332A"/>
                </a:solidFill>
              </a:defRPr>
            </a:pPr>
            <a:r>
              <a:rPr sz="1650">
                <a:solidFill>
                  <a:srgbClr val="18332A"/>
                </a:solidFill>
              </a:rPr>
              <a:t>Breeder Dispatch • Clean-up • Transfer • History/Card enhancements. These are visible in remote history but not counted as released on dev-main.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BF25F1-AA5F-4596-9D59-F6AB0124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210300"/>
            <a:ext cx="16535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6A629"/>
                </a:solidFill>
              </a:defRPr>
            </a:pPr>
            <a:r>
              <a:rPr sz="1275" b="1">
                <a:solidFill>
                  <a:srgbClr val="D6A629"/>
                </a:solidFill>
              </a:rPr>
              <a:t>Release implication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149F0-8D61-4DC1-AA21-57621B87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648450"/>
            <a:ext cx="16535400" cy="370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3B2B"/>
                </a:solidFill>
              </a:defRPr>
            </a:pPr>
            <a:r>
              <a:rPr sz="2175" b="1">
                <a:solidFill>
                  <a:srgbClr val="063B2B"/>
                </a:solidFill>
              </a:rPr>
              <a:t>Decide whether the branch-only logistics chain is production-ready, requires reconciliation with dev-main, or should be staged behind a controlled acceptance gate.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127D12F-63D7-4E28-9875-972D502C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8A1DAF7-EAEC-4FED-9D2E-FAB1475D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214224190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FC8EEAA-167D-4B2D-B895-767BBC14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SHARED PLATFORM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FBAD79-6561-4789-8EA5-12DB814F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The controls that connect every FMS category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af8efac66d4d48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6DD6BC-EAC8-45AF-8608-72A9F9700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88421-831E-4DBE-9B71-0F16882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542925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63B2B"/>
                </a:solidFill>
              </a:defRPr>
            </a:pPr>
            <a:r>
              <a:rPr sz="3900" b="1">
                <a:solidFill>
                  <a:srgbClr val="063B2B"/>
                </a:solidFill>
              </a:rPr>
              <a:t>GOVERNANCE</a:t>
            </a:r>
          </a:p>
          <a:p xmlns:a="http://schemas.openxmlformats.org/drawingml/2006/main">
            <a:pPr>
              <a:defRPr sz="3900" b="1">
                <a:solidFill>
                  <a:srgbClr val="063B2B"/>
                </a:solidFill>
              </a:defRPr>
            </a:pPr>
            <a:r>
              <a:rPr sz="3900" b="1">
                <a:solidFill>
                  <a:srgbClr val="063B2B"/>
                </a:solidFill>
              </a:rPr>
              <a:t>SPINE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BCC782-CD43-4F97-9E5C-9B5D7774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542925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66736D"/>
                </a:solidFill>
              </a:defRPr>
            </a:pPr>
            <a:r>
              <a:rPr sz="1800">
                <a:solidFill>
                  <a:srgbClr val="66736D"/>
                </a:solidFill>
              </a:rPr>
              <a:t>Authorization and configuration are moving from scattered route logic into shared, farm-aware services.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CD8E36-6248-49FA-A3FC-3512DFC3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14900"/>
            <a:ext cx="46672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5CAF2-BB61-4E53-86E7-FC72E146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621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3B2B"/>
                </a:solidFill>
              </a:defRPr>
            </a:pPr>
            <a:r>
              <a:rPr sz="1350" b="1">
                <a:solidFill>
                  <a:srgbClr val="063B2B"/>
                </a:solidFill>
              </a:rPr>
              <a:t>IDENTITY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52F2DB-7E93-4601-9E70-3CDACFEC1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527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User Management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FMS Type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Farm assignments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53A12-44A8-4F4E-B496-8E2E8BCE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19621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B3C"/>
                </a:solidFill>
              </a:defRPr>
            </a:pPr>
            <a:r>
              <a:rPr sz="1350" b="1">
                <a:solidFill>
                  <a:srgbClr val="0B5B3C"/>
                </a:solidFill>
              </a:rPr>
              <a:t>ACCESS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B20506-65E8-43F2-8592-D57F3711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5527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User Permissions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User Groups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Activation controls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5FEA36-C6DC-40AF-8807-4E9D610B4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19621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629"/>
                </a:solidFill>
              </a:defRPr>
            </a:pPr>
            <a:r>
              <a:rPr sz="1350" b="1">
                <a:solidFill>
                  <a:srgbClr val="D6A629"/>
                </a:solidFill>
              </a:rPr>
              <a:t>DECISIONS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21D7F-0A0D-4E28-8349-5D292A9BC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25527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Approval Setup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Approval Management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Week Lock boundary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D8918E-2CDB-4C92-9204-FAD699BD6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5529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B3C"/>
                </a:solidFill>
              </a:defRPr>
            </a:pPr>
            <a:r>
              <a:rPr sz="1350" b="1">
                <a:solidFill>
                  <a:srgbClr val="0B5B3C"/>
                </a:solidFill>
              </a:rPr>
              <a:t>EVENTS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0CA15B-FCC9-4CC2-8216-BA7D6058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1435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Notification catalog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Central dispatcher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Farm-aware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09CC61-8213-48C9-8B8B-647E15AF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45529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3B2B"/>
                </a:solidFill>
              </a:defRPr>
            </a:pPr>
            <a:r>
              <a:rPr sz="1350" b="1">
                <a:solidFill>
                  <a:srgbClr val="063B2B"/>
                </a:solidFill>
              </a:rPr>
              <a:t>FARM SETUP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4B2F6-8817-4025-BBC9-1E7CAF0A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51435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Farm Management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Setup Wizard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Warehouse hierarchy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4D15D0-E686-49EC-B257-B2780E737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4552950"/>
            <a:ext cx="3219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629"/>
                </a:solidFill>
              </a:defRPr>
            </a:pPr>
            <a:r>
              <a:rPr sz="1350" b="1">
                <a:solidFill>
                  <a:srgbClr val="D6A629"/>
                </a:solidFill>
              </a:rPr>
              <a:t>OPERABILITY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2331CE-72C4-428A-B39D-B80DA8788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0" y="5143500"/>
            <a:ext cx="3219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Navigation + search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Theme consistency</a:t>
            </a:r>
          </a:p>
          <a:p xmlns:a="http://schemas.openxmlformats.org/drawingml/2006/main">
            <a:pPr>
              <a:defRPr sz="1500" b="1">
                <a:solidFill>
                  <a:srgbClr val="18332A"/>
                </a:solidFill>
              </a:defRPr>
            </a:pPr>
            <a:r>
              <a:rPr sz="1500" b="1">
                <a:solidFill>
                  <a:srgbClr val="18332A"/>
                </a:solidFill>
              </a:rPr>
              <a:t>Offline/reliability work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C95C739-F512-4D09-869A-542E9FEF7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D2704A-C856-488D-B576-7DDEA6AB1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66226389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0337AE6-AEEE-47CA-8054-025F4938D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MAY–AUGUST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EDBEF-41DB-453E-9797-4CAD87B68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The build moved from visibility to integration to control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2636da34ee4c12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53D256-F3BB-4C81-B2E7-90FB0EEDC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91F412-75FD-440B-A5E1-054E93A8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77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5B3C"/>
                </a:solidFill>
              </a:defRPr>
            </a:pPr>
            <a:r>
              <a:rPr sz="4050" b="1">
                <a:solidFill>
                  <a:srgbClr val="0B5B3C"/>
                </a:solidFill>
              </a:rPr>
              <a:t>MAY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528F0-FF20-48BC-81E0-245EBA165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B2B"/>
                </a:solidFill>
              </a:defRPr>
            </a:pPr>
            <a:r>
              <a:rPr sz="1800" b="1">
                <a:solidFill>
                  <a:srgbClr val="063B2B"/>
                </a:solidFill>
              </a:rPr>
              <a:t>Visibility + adoption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C89343-9CE8-4B0C-8680-2511CA91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Hatchery views/APIs • receiving trace • permissions templates • table standardization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4B7066-8CF9-4281-BE1A-5176931E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924050"/>
            <a:ext cx="377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5B3C"/>
                </a:solidFill>
              </a:defRPr>
            </a:pPr>
            <a:r>
              <a:rPr sz="4050" b="1">
                <a:solidFill>
                  <a:srgbClr val="0B5B3C"/>
                </a:solidFill>
              </a:rPr>
              <a:t>JUN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40AB3D-CF3E-4491-85BD-69AB8F112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76225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B2B"/>
                </a:solidFill>
              </a:defRPr>
            </a:pPr>
            <a:r>
              <a:rPr sz="1800" b="1">
                <a:solidFill>
                  <a:srgbClr val="063B2B"/>
                </a:solidFill>
              </a:rPr>
              <a:t>Inventory foundation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E22D0F-F3FB-4F5C-A691-C7DC877EF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20040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Reversal validation • Item Group • UoM • Batch • stock-in/out • breeder growing/grading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65E5B0-5C0A-4F90-942A-4FB90E78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924050"/>
            <a:ext cx="377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5B3C"/>
                </a:solidFill>
              </a:defRPr>
            </a:pPr>
            <a:r>
              <a:rPr sz="4050" b="1">
                <a:solidFill>
                  <a:srgbClr val="0B5B3C"/>
                </a:solidFill>
              </a:rPr>
              <a:t>JUL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4DA40-2A8B-43B3-BDF3-1A6F91A00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76225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B2B"/>
                </a:solidFill>
              </a:defRPr>
            </a:pPr>
            <a:r>
              <a:rPr sz="1800" b="1">
                <a:solidFill>
                  <a:srgbClr val="063B2B"/>
                </a:solidFill>
              </a:rPr>
              <a:t>Connected operations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095996-73DC-4F21-8612-2D4C9C5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0040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Broiler lifecycle • Flock Card • Harvest &amp; Delivery • Clean-up • transfers • warehouse reports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415EDD-8A92-41DB-875C-295F51E6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1924050"/>
            <a:ext cx="37719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B5B3C"/>
                </a:solidFill>
              </a:defRPr>
            </a:pPr>
            <a:r>
              <a:rPr sz="4050" b="1">
                <a:solidFill>
                  <a:srgbClr val="0B5B3C"/>
                </a:solidFill>
              </a:rPr>
              <a:t>AUG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F617EA-C6C2-4BEB-A984-FFFDB9593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276225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63B2B"/>
                </a:solidFill>
              </a:defRPr>
            </a:pPr>
            <a:r>
              <a:rPr sz="1800" b="1">
                <a:solidFill>
                  <a:srgbClr val="063B2B"/>
                </a:solidFill>
              </a:rPr>
              <a:t>Governance + readiness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42411-986C-4E76-8CA5-750C4B3E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850" y="3200400"/>
            <a:ext cx="37719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Cycle Master • access hierarchy • notifications • reliability • hierarchy refinement • WIP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C5B69D-37FA-4259-BB4C-72C264F9B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5811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629"/>
          </a:solidFill>
          <a:ln xmlns:a="http://schemas.openxmlformats.org/drawingml/2006/main" w="0">
            <a:solidFill>
              <a:srgbClr val="D6A629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E2A9C0-6D33-45A4-A667-2ABE5E2C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72100"/>
            <a:ext cx="3733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24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933908-9E55-4C67-B3EE-D790307A9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134100"/>
            <a:ext cx="3733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May commits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568CB0-B795-4001-B215-0EA035C3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372100"/>
            <a:ext cx="3733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6A629"/>
                </a:solidFill>
              </a:defRPr>
            </a:pPr>
            <a:r>
              <a:rPr sz="4200" b="1">
                <a:solidFill>
                  <a:srgbClr val="D6A629"/>
                </a:solidFill>
              </a:rPr>
              <a:t>27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E2313-D46B-4B2D-B728-7A126079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34100"/>
            <a:ext cx="3733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June commits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3EC71FA-D0E7-4FEF-B18F-FC3A7E24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5372100"/>
            <a:ext cx="3733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0B5B3C"/>
                </a:solidFill>
              </a:defRPr>
            </a:pPr>
            <a:r>
              <a:rPr sz="4200" b="1">
                <a:solidFill>
                  <a:srgbClr val="0B5B3C"/>
                </a:solidFill>
              </a:rPr>
              <a:t>26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DE9DBDE-EAF7-467D-8305-B19B0769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134100"/>
            <a:ext cx="3733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July commits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8B3922-A53C-429F-B557-AE8E8BBD7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5372100"/>
            <a:ext cx="37338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D6A629"/>
                </a:solidFill>
              </a:defRPr>
            </a:pPr>
            <a:r>
              <a:rPr sz="4200" b="1">
                <a:solidFill>
                  <a:srgbClr val="D6A629"/>
                </a:solidFill>
              </a:rPr>
              <a:t>21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95A3375-4A9D-4A5B-B619-F1C8154C8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77900" y="6134100"/>
            <a:ext cx="37338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332A"/>
                </a:solidFill>
              </a:defRPr>
            </a:pPr>
            <a:r>
              <a:rPr sz="1350" b="1">
                <a:solidFill>
                  <a:srgbClr val="18332A"/>
                </a:solidFill>
              </a:rPr>
              <a:t>August commits through Aug 21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EB33714-DE3C-4997-83D1-C0BB1EA6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658100"/>
            <a:ext cx="165354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The sequencing matters: shared inventory and traceability foundations enabled the Broiler lifecycle; that lifecycle then exposed the need for stronger farm identity, permissions, approvals, and notification controls.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AB28C6-17C3-4245-9B17-B48D9985F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DA6D8C-8873-49E6-BA05-B94C9D2B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11359199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8ED128-B863-48DA-A283-BE4C9C11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RELEASE BOUNDARY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2A5D91-008A-475F-8730-9EE1AAC5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Built is not the same as integrated, deployed, or verified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9cbf88ebab430a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990C5B-B623-456A-B8BA-2B76A80BC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F547A9-4C7A-4D1C-8E94-17F2329B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B5B3C"/>
                </a:solidFill>
              </a:defRPr>
            </a:pPr>
            <a:r>
              <a:rPr sz="1350" b="1">
                <a:solidFill>
                  <a:srgbClr val="0B5B3C"/>
                </a:solidFill>
              </a:rPr>
              <a:t>INTEGRATED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330AB-EA97-493E-AF35-EC20A957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3886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0B5B3C"/>
                </a:solidFill>
              </a:defRPr>
            </a:pPr>
            <a:r>
              <a:rPr sz="5400" b="1">
                <a:solidFill>
                  <a:srgbClr val="0B5B3C"/>
                </a:solidFill>
              </a:rPr>
              <a:t>98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7C428D-AA5A-4BF6-BD9A-2FE81CEAF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commits on origin/dev-main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F6C0E2-6B0A-422A-9491-289920E5A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9240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B94A3D"/>
                </a:solidFill>
              </a:defRPr>
            </a:pPr>
            <a:r>
              <a:rPr sz="1350" b="1">
                <a:solidFill>
                  <a:srgbClr val="B94A3D"/>
                </a:solidFill>
              </a:rPr>
              <a:t>BRANCH-ONLY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9478A7-D6F0-4A0D-ABDA-A2498D68B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38400"/>
            <a:ext cx="3886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94A3D"/>
                </a:solidFill>
              </a:defRPr>
            </a:pPr>
            <a:r>
              <a:rPr sz="5400" b="1">
                <a:solidFill>
                  <a:srgbClr val="B94A3D"/>
                </a:solidFill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9F0B9C-296E-4333-BA1C-726812C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58140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feature commits outside dev-main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3BF458-4EEE-4CF2-B3D5-F2630579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9240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6A629"/>
                </a:solidFill>
              </a:defRPr>
            </a:pPr>
            <a:r>
              <a:rPr sz="1350" b="1">
                <a:solidFill>
                  <a:srgbClr val="D6A629"/>
                </a:solidFill>
              </a:rPr>
              <a:t>LOCAL WIP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C36D3E-3F51-4B49-B205-EF8E232CB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38400"/>
            <a:ext cx="3886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D6A629"/>
                </a:solidFill>
              </a:defRPr>
            </a:pPr>
            <a:r>
              <a:rPr sz="5400" b="1">
                <a:solidFill>
                  <a:srgbClr val="D6A629"/>
                </a:solidFill>
              </a:rPr>
              <a:t>52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13B562-A33B-42A1-923B-665E1A495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58140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pre-existing changed/untracked code paths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102628-7333-405F-81A8-63691956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1924050"/>
            <a:ext cx="38862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63B2B"/>
                </a:solidFill>
              </a:defRPr>
            </a:pPr>
            <a:r>
              <a:rPr sz="1350" b="1">
                <a:solidFill>
                  <a:srgbClr val="063B2B"/>
                </a:solidFill>
              </a:rPr>
              <a:t>VERIFICATION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E0D2B5-B17B-426E-9D57-0A3C98D4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2438400"/>
            <a:ext cx="38862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063B2B"/>
                </a:solidFill>
              </a:defRPr>
            </a:pPr>
            <a:r>
              <a:rPr sz="4050" b="1">
                <a:solidFill>
                  <a:srgbClr val="063B2B"/>
                </a:solidFill>
              </a:rPr>
              <a:t>OPEN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D11A027-56CB-48F5-95A7-38CDE65E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3581400"/>
            <a:ext cx="38862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63B2B"/>
                </a:solidFill>
              </a:defRPr>
            </a:pPr>
            <a:r>
              <a:rPr sz="1500" b="1">
                <a:solidFill>
                  <a:srgbClr val="063B2B"/>
                </a:solidFill>
              </a:rPr>
              <a:t>browser, SQL/RPC, RLS, Supabase, and delivery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02F0F3-76C6-44DC-B6DA-D55C1593F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05350"/>
            <a:ext cx="516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RELEASE CONTROL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F094C1-C862-44E2-A5FB-A524F02D9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5162550" cy="370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3B2B"/>
                </a:solidFill>
              </a:defRPr>
            </a:pPr>
            <a:r>
              <a:rPr sz="2175" b="1">
                <a:solidFill>
                  <a:srgbClr val="063B2B"/>
                </a:solidFill>
              </a:rPr>
              <a:t>Promote by evidence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477DF4-C94A-404A-BE25-4C5D1DF86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245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32A"/>
                </a:solidFill>
              </a:defRPr>
            </a:pPr>
            <a:r>
              <a:rPr sz="1500">
                <a:solidFill>
                  <a:srgbClr val="18332A"/>
                </a:solidFill>
              </a:rPr>
              <a:t>Require commit/branch identity, migration status, automated checks, browser acceptance, and owner sign-off for every release candidate.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F4D863-540C-464E-904C-1D3D4887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705350"/>
            <a:ext cx="516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OPERATIONAL CONTROL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83858A-3D42-4DBD-9B9E-B2D920C9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5162550" cy="370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3B2B"/>
                </a:solidFill>
              </a:defRPr>
            </a:pPr>
            <a:r>
              <a:rPr sz="2175" b="1">
                <a:solidFill>
                  <a:srgbClr val="063B2B"/>
                </a:solidFill>
              </a:rPr>
              <a:t>Pilot by workflow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8929DC-64AE-4ADE-A9CD-EB9E01C5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5245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32A"/>
                </a:solidFill>
              </a:defRPr>
            </a:pPr>
            <a:r>
              <a:rPr sz="1500">
                <a:solidFill>
                  <a:srgbClr val="18332A"/>
                </a:solidFill>
              </a:rPr>
              <a:t>Validate the connected chain—not a single page: settings → document → posting → report → notification/approval.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AD713C-AFB1-4219-9395-CBE78F355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4705350"/>
            <a:ext cx="51625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RISK CONTROL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F14383-F210-4A4F-8F47-5C9FE1A92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086350"/>
            <a:ext cx="5162550" cy="37014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3B2B"/>
                </a:solidFill>
              </a:defRPr>
            </a:pPr>
            <a:r>
              <a:rPr sz="2175" b="1">
                <a:solidFill>
                  <a:srgbClr val="063B2B"/>
                </a:solidFill>
              </a:rPr>
              <a:t>Protect the data contract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263656-7F28-43E6-83AE-11F789F8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49150" y="5524500"/>
            <a:ext cx="51625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18332A"/>
                </a:solidFill>
              </a:defRPr>
            </a:pPr>
            <a:r>
              <a:rPr sz="1500">
                <a:solidFill>
                  <a:srgbClr val="18332A"/>
                </a:solidFill>
              </a:rPr>
              <a:t>Preserve farm identity, signed ledger behavior, source lineage, retry deduplication, and safe notification no-op behavior.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DE60C1-2D59-4D2D-9CEC-73B85C461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7162800"/>
            <a:ext cx="165354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5B3C"/>
                </a:solidFill>
              </a:defRPr>
            </a:pPr>
            <a:r>
              <a:rPr sz="2175" b="1">
                <a:solidFill>
                  <a:srgbClr val="0B5B3C"/>
                </a:solidFill>
              </a:rPr>
              <a:t>Management message: delivery momentum is strong; the immediate value unlock is disciplined integration and operational acceptance.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66CD51C-F5FE-4D07-883D-5CD5AAF22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2192B-43A3-42E7-88AC-C194E1841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123023585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D7D24A5-7436-4872-9760-A8F640288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38150"/>
            <a:ext cx="16287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6A629"/>
                </a:solidFill>
              </a:defRPr>
            </a:pPr>
            <a:r>
              <a:rPr sz="1125" b="1">
                <a:solidFill>
                  <a:srgbClr val="D6A629"/>
                </a:solidFill>
              </a:rPr>
              <a:t>CEO PRIORITIES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0133B-E7BC-481C-B482-5239E1154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81050"/>
            <a:ext cx="16287750" cy="9420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063B2B"/>
                </a:solidFill>
              </a:defRPr>
            </a:pPr>
            <a:r>
              <a:rPr sz="3450" b="1">
                <a:solidFill>
                  <a:srgbClr val="063B2B"/>
                </a:solidFill>
              </a:rPr>
              <a:t>Six decisions to turn build momentum into measurable operating value</a:t>
            </a:r>
          </a:p>
        </p:txBody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e0c423d19846f6"/>
          <a:stretch xmlns:a="http://schemas.openxmlformats.org/drawingml/2006/main"/>
        </p:blipFill>
        <p:spPr>
          <a:xfrm xmlns:a="http://schemas.openxmlformats.org/drawingml/2006/main">
            <a:off x="17068800" y="428625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82860-F30A-4438-831A-9902BB9B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0" y="971550"/>
            <a:ext cx="18097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66736D"/>
                </a:solidFill>
              </a:defRPr>
            </a:pPr>
            <a:r>
              <a:rPr sz="1200" b="1">
                <a:solidFill>
                  <a:srgbClr val="66736D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041F08-A549-4317-8AAD-14458C63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7BB0C-88BF-4AFC-846A-BAF265DE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Approve a controlled release gate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DBA22F-D505-4A09-8226-0C08A6DC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861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One evidence pack covering code, SQL/RPC, browser, RLS, notification, and rollback readiness.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B8C64F-0495-42C7-9556-2C521C5EA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4310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77CCC-F26E-4BCB-917C-E27F513E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860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Prioritize Broiler pilot adoption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7349E6-27B7-45D3-9CA4-13135ACF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0861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Run placement → Flock Card → delivery → clean-up with reconciled warehouse balances.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19CA54-BC3D-4E50-B43D-995BE82C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194310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39DCA3-B460-4547-99AB-AD4686608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6860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Resolve branch-only Breeder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21D5F8-B34A-458D-8E4A-78E0A16F4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30861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Accept, reconcile, or defer Dispatch/Clean-up/Transfer/History as an explicit release decision.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530B88-1D19-4F1F-ABCC-036D59EF7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65785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69D8C3-6C4D-479A-A3F5-0F22F4AE4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4008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Freeze canonical farm identity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E180D-295B-4A37-B2B0-4D85085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68008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Complete numeric farm-ID migration and stop ambiguous farm code/name routing.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E6C05-2F46-426B-BFC0-FBEF0FA5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65785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AC593B-4B26-46E3-8CC4-297FD75A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4008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Name operational owners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3188DA-66ED-4490-B749-2E94808DF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8008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Assign one accountable owner per FMS category for acceptance, adoption, and master-data quality.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EF44E4-B4A9-425C-9754-02B281FA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5657850"/>
            <a:ext cx="5143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D6A629"/>
                </a:solidFill>
              </a:defRPr>
            </a:pPr>
            <a:r>
              <a:rPr sz="3450" b="1">
                <a:solidFill>
                  <a:srgbClr val="D6A629"/>
                </a:solidFill>
              </a:rPr>
              <a:t>06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BFE642-9CC6-4FE3-9095-944626B6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40080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63B2B"/>
                </a:solidFill>
              </a:defRPr>
            </a:pPr>
            <a:r>
              <a:rPr sz="1875" b="1">
                <a:solidFill>
                  <a:srgbClr val="063B2B"/>
                </a:solidFill>
              </a:rPr>
              <a:t>Track three value measures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CED309-5111-4085-8041-B73EA4283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800850"/>
            <a:ext cx="5143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736D"/>
                </a:solidFill>
              </a:defRPr>
            </a:pPr>
            <a:r>
              <a:rPr sz="1350">
                <a:solidFill>
                  <a:srgbClr val="66736D"/>
                </a:solidFill>
              </a:rPr>
              <a:t>Posting accuracy • cycle close time • exception resolution time—reported by farm and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D83B85-AB69-4895-A029-7AC7C3D5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86850"/>
            <a:ext cx="18288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63B2B"/>
                </a:solidFill>
              </a:defRPr>
            </a:pPr>
            <a:r>
              <a:rPr sz="2175" b="1">
                <a:solidFill>
                  <a:srgbClr val="063B2B"/>
                </a:solidFill>
              </a:rPr>
              <a:t>CONNECTED • CONTROLLED • PROVABLY LIVE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0B7B459-B3C6-443C-8084-1791B063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829800"/>
            <a:ext cx="1257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4CD"/>
          </a:solidFill>
          <a:ln xmlns:a="http://schemas.openxmlformats.org/drawingml/2006/main" w="0">
            <a:solidFill>
              <a:srgbClr val="C8D4CD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A6FDDE-AD14-470B-B6E1-F8631EEA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82550" y="9829800"/>
            <a:ext cx="40005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66736D"/>
                </a:solidFill>
              </a:defRPr>
            </a:pPr>
            <a:r>
              <a:rPr sz="825" b="1">
                <a:solidFill>
                  <a:srgbClr val="66736D"/>
                </a:solidFill>
              </a:rPr>
              <a:t>VITA FMS • CEO PROJECT UPDATE • 25 AUG 2026</a:t>
            </a:r>
          </a:p>
        </p:txBody>
      </p:sp>
    </p:spTree>
    <p:extLst>
      <p:ext uri="{BB962C8B-B14F-4D97-AF65-F5344CB8AC3E}">
        <p14:creationId xmlns:p14="http://schemas.microsoft.com/office/powerpoint/2010/main" val="448637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2026-08-25T13:34:32.6470000Z</dcterms:created>
  <dcterms:modified xsi:type="dcterms:W3CDTF">2026-08-25T13:34:32.6470000Z</dcterms:modified>
</coreProperties>
</file>